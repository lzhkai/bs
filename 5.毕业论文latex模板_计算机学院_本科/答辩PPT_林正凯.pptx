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2520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20000"/>
            <a:ext cx="12192119" cy="54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720000"/>
            <a:ext cx="1080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本科毕业设计（论文）答辩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152000"/>
            <a:ext cx="10800000" cy="9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基于计算机视觉与流式计算的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655999"/>
            <a:ext cx="10800000" cy="9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智能小区车辆管理系统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0" y="3420000"/>
            <a:ext cx="6408000" cy="2520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0" y="3600000"/>
            <a:ext cx="180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学  生：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0" y="3600000"/>
            <a:ext cx="396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0">
                <a:solidFill>
                  <a:srgbClr val="303030"/>
                </a:solidFill>
                <a:latin typeface="微软雅黑"/>
                <a:ea typeface="微软雅黑"/>
              </a:rPr>
              <a:t>林  正  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3941999"/>
            <a:ext cx="180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学  号：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3941999"/>
            <a:ext cx="396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0">
                <a:solidFill>
                  <a:srgbClr val="303030"/>
                </a:solidFill>
                <a:latin typeface="微软雅黑"/>
                <a:ea typeface="微软雅黑"/>
              </a:rPr>
              <a:t>22211870221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0" y="4284000"/>
            <a:ext cx="180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学  院：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0" y="4284000"/>
            <a:ext cx="396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0">
                <a:solidFill>
                  <a:srgbClr val="303030"/>
                </a:solidFill>
                <a:latin typeface="微软雅黑"/>
                <a:ea typeface="微软雅黑"/>
              </a:rPr>
              <a:t>计算机与人工智能学院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0" y="4626000"/>
            <a:ext cx="180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专  业：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4626000"/>
            <a:ext cx="396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0">
                <a:solidFill>
                  <a:srgbClr val="303030"/>
                </a:solidFill>
                <a:latin typeface="微软雅黑"/>
                <a:ea typeface="微软雅黑"/>
              </a:rPr>
              <a:t>数据科学与大数据技术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0" y="4968000"/>
            <a:ext cx="180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班  级：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4968000"/>
            <a:ext cx="396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0">
                <a:solidFill>
                  <a:srgbClr val="303030"/>
                </a:solidFill>
                <a:latin typeface="微软雅黑"/>
                <a:ea typeface="微软雅黑"/>
              </a:rPr>
              <a:t>22 级大数据 2 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5310000"/>
            <a:ext cx="180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指导老师：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0" y="5310000"/>
            <a:ext cx="3960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600" b="0">
                <a:solidFill>
                  <a:srgbClr val="303030"/>
                </a:solidFill>
                <a:latin typeface="微软雅黑"/>
                <a:ea typeface="微软雅黑"/>
              </a:rPr>
              <a:t>李  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000" y="6300000"/>
            <a:ext cx="1080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0000" y="144000"/>
            <a:ext cx="396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007999"/>
            <a:ext cx="54000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007999"/>
            <a:ext cx="1080000" cy="1440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007999"/>
            <a:ext cx="1080000" cy="14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0000" y="1187999"/>
            <a:ext cx="396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研究背景与意义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0000" y="1727999"/>
            <a:ext cx="3960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课题背景 / 国内外现状 / 研究内容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0000" y="1007999"/>
            <a:ext cx="54000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80000" y="1007999"/>
            <a:ext cx="1080000" cy="1440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0" y="1007999"/>
            <a:ext cx="1080000" cy="14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0000" y="1187999"/>
            <a:ext cx="396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相关理论与技术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0" y="1727999"/>
            <a:ext cx="3960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YOLOv8 · Spark Streaming · 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2628000"/>
            <a:ext cx="54000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0000" y="2628000"/>
            <a:ext cx="1080000" cy="1440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2628000"/>
            <a:ext cx="1080000" cy="14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0" y="2808000"/>
            <a:ext cx="396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系统总体设计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0000" y="3348000"/>
            <a:ext cx="3960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架构 · 数据库 · 数据流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0" y="2628000"/>
            <a:ext cx="54000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80000" y="2628000"/>
            <a:ext cx="1080000" cy="1440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0" y="2628000"/>
            <a:ext cx="1080000" cy="14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0000" y="2808000"/>
            <a:ext cx="396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系统详细实现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000" y="3348000"/>
            <a:ext cx="3960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六大功能模块 + 关键算法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4248000"/>
            <a:ext cx="54000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0000" y="4248000"/>
            <a:ext cx="1080000" cy="1440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000" y="4248000"/>
            <a:ext cx="1080000" cy="14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0000" y="4428000"/>
            <a:ext cx="396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系统测试与分析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0000" y="4968000"/>
            <a:ext cx="3960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测试框架 · 改进对比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80000" y="4248000"/>
            <a:ext cx="5400000" cy="1440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80000" y="4248000"/>
            <a:ext cx="1080000" cy="1440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0000" y="4248000"/>
            <a:ext cx="1080000" cy="14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0000" y="4428000"/>
            <a:ext cx="396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  <a:ea typeface="微软雅黑"/>
              </a:rPr>
              <a:t>总结与展望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0000" y="4968000"/>
            <a:ext cx="39600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工作总结 · 不足 · 未来方向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01 / 研究背景与意义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00000"/>
            <a:ext cx="7920000" cy="540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▸ 城市化加快，小区机动车保有量持续增长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    传统人工登记/巡查方式效率低、信息更新滞后、统计误差大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▸ 智慧社区建设对车辆管理提出更高要求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    需要高效率、高准确性、高安全性的自动化管理手段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▸ 现有系统在工程稳定性上存在短板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    识别与统计语义不统一、表单与接口校验不一致、视频任务收尾不完整</a:t>
            </a:r>
          </a:p>
          <a:p>
            <a:pPr>
              <a:lnSpc>
                <a:spcPct val="130000"/>
              </a:lnSpc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▸ 研究意义</a:t>
            </a:r>
          </a:p>
          <a:p>
            <a:pPr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    1）以计算机视觉解决车辆识别效率问题
    2）以流式计算解决实时统计一致性问题
    3）以 RAG 提升管理人员的辅助决策能力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0000" y="1080000"/>
            <a:ext cx="2880000" cy="1368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0" y="1224000"/>
            <a:ext cx="2880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200" b="1">
                <a:solidFill>
                  <a:srgbClr val="409EFF"/>
                </a:solidFill>
                <a:latin typeface="微软雅黑"/>
                <a:ea typeface="微软雅黑"/>
              </a:rPr>
              <a:t>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0" y="194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计算机视觉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0000" y="2700000"/>
            <a:ext cx="2880000" cy="1368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0" y="2844000"/>
            <a:ext cx="2880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200" b="1">
                <a:solidFill>
                  <a:srgbClr val="409EFF"/>
                </a:solidFill>
                <a:latin typeface="微软雅黑"/>
                <a:ea typeface="微软雅黑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0" y="356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流式计算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0000" y="4320000"/>
            <a:ext cx="2880000" cy="1368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0000" y="4464000"/>
            <a:ext cx="2880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200" b="1">
                <a:solidFill>
                  <a:srgbClr val="409EFF"/>
                </a:solidFill>
                <a:latin typeface="微软雅黑"/>
                <a:ea typeface="微软雅黑"/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0000" y="5184000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RAG 问答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01 / 国内外研究现状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00000"/>
            <a:ext cx="5580000" cy="5508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5580000" cy="503999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00000"/>
            <a:ext cx="558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国外研究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512000"/>
            <a:ext cx="5220000" cy="468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▸ 智能停车与车辆管理：检测+识别+引导协同处理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▸ 多目标车辆识别：基于 CNN 的分类与多类别识别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▸ Spring Boot 模块化架构在企业级应用中的可扩展性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▸ Spark Streaming vs Flink：高吞吐与容错能力对比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▸ 深度学习+实时数据处理在智能交通中的协同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000" y="900000"/>
            <a:ext cx="5580000" cy="5508000"/>
          </a:xfrm>
          <a:prstGeom prst="rect">
            <a:avLst/>
          </a:prstGeom>
          <a:solidFill>
            <a:srgbClr val="FFFFFF"/>
          </a:solidFill>
          <a:ln>
            <a:solidFill>
              <a:srgbClr val="67C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0000" y="900000"/>
            <a:ext cx="5580000" cy="503999"/>
          </a:xfrm>
          <a:prstGeom prst="rect">
            <a:avLst/>
          </a:prstGeom>
          <a:solidFill>
            <a:srgbClr val="67C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000" y="900000"/>
            <a:ext cx="558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国内研究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0" y="1512000"/>
            <a:ext cx="5220000" cy="468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▸ Vue.js 组件化开发广泛应用于管理系统前端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▸ Spring Boot + Vue 在事故/GIS/停车系统中的实践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▸ OCR 在车牌、票据信息自动识别中的应用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▸ 轻量化神经网络在保证精度下降低算力消耗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▸ Spark Streaming + IoT 平台处理连续数据流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▸ RAG 与 LLM 在智能问答中的低资源场景能力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01 / 主要研究内容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080000"/>
            <a:ext cx="10800000" cy="1007999"/>
          </a:xfrm>
          <a:prstGeom prst="rect">
            <a:avLst/>
          </a:prstGeom>
          <a:solidFill>
            <a:srgbClr val="F5F7FA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080000"/>
            <a:ext cx="144000" cy="1007999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999" y="1188000"/>
            <a:ext cx="100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①  系统总体架构设计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999" y="1583999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前端 Vue + Java/Python 双后端 + MySQL/Milvus 双数据库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2304000"/>
            <a:ext cx="10800000" cy="1007999"/>
          </a:xfrm>
          <a:prstGeom prst="rect">
            <a:avLst/>
          </a:prstGeom>
          <a:solidFill>
            <a:srgbClr val="F5F7FA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2304000"/>
            <a:ext cx="144000" cy="1007999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7999" y="2412000"/>
            <a:ext cx="100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②  车辆信息管理与车牌识别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999" y="2807999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OpenCV + EasyOCR 实现车牌识别 + 人工确认入库闭环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3528000"/>
            <a:ext cx="10800000" cy="1007999"/>
          </a:xfrm>
          <a:prstGeom prst="rect">
            <a:avLst/>
          </a:prstGeom>
          <a:solidFill>
            <a:srgbClr val="F5F7FA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000" y="3528000"/>
            <a:ext cx="144000" cy="1007999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999" y="3636000"/>
            <a:ext cx="100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③  车辆监控与实时聚合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999" y="4031999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YOLOv8 检测 + 自研多目标跟踪 + Spark Structured Streaming 滑动窗口聚合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4752000"/>
            <a:ext cx="10800000" cy="1007999"/>
          </a:xfrm>
          <a:prstGeom prst="rect">
            <a:avLst/>
          </a:prstGeom>
          <a:solidFill>
            <a:srgbClr val="F5F7FA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0000" y="4752000"/>
            <a:ext cx="144000" cy="1007999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999" y="4860000"/>
            <a:ext cx="100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微软雅黑"/>
                <a:ea typeface="微软雅黑"/>
              </a:rPr>
              <a:t>④  RAG 智能问答模块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999" y="5255999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Sentence-Transformers + Milvus + DeepSeek-V3 流式问答 + 历史追溯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02 / 技术栈概览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972000"/>
            <a:ext cx="558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972000"/>
            <a:ext cx="5580000" cy="503999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972000"/>
            <a:ext cx="558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584000"/>
            <a:ext cx="5220000" cy="162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Vue 3.3 + Element Plus 2.4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Vue Router 4 / Axios / ECharts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socket.io-client（双 WS 命名空间）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000" y="972000"/>
            <a:ext cx="558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0000" y="972000"/>
            <a:ext cx="5580000" cy="503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000" y="972000"/>
            <a:ext cx="558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Java 业务后端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0" y="1584000"/>
            <a:ext cx="5220000" cy="162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Spring Boot 3.0.2 / Java 17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MyBatis-Plus 3.5.3.1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Spring Validation / Security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3491999"/>
            <a:ext cx="558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67C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0000" y="3491999"/>
            <a:ext cx="5580000" cy="503999"/>
          </a:xfrm>
          <a:prstGeom prst="rect">
            <a:avLst/>
          </a:prstGeom>
          <a:solidFill>
            <a:srgbClr val="67C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3491999"/>
            <a:ext cx="558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Python AI 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103999"/>
            <a:ext cx="5220000" cy="162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Flask 3.0 + Flask-SocketIO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OpenCV / Ultralytics YOLOv8 / EasyOCR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PySpark 3.5 Structured Streaming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Sentence-Transformers / pymilvus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3491999"/>
            <a:ext cx="558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E6A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000" y="3491999"/>
            <a:ext cx="5580000" cy="503999"/>
          </a:xfrm>
          <a:prstGeom prst="rect">
            <a:avLst/>
          </a:prstGeom>
          <a:solidFill>
            <a:srgbClr val="E6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000" y="3491999"/>
            <a:ext cx="558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数据存储 &amp; 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0000" y="4103999"/>
            <a:ext cx="5220000" cy="162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MySQL 5.7+（业务主数据）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Milvus 2.3.4（向量库 384 维）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303030"/>
                </a:solidFill>
                <a:latin typeface="微软雅黑"/>
                <a:ea typeface="微软雅黑"/>
              </a:rPr>
              <a:t>• DeepSeek-V3（SiliconFlow 兼容 OpenAI）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02 / 关键技术点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72000"/>
            <a:ext cx="3744000" cy="5400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972000"/>
            <a:ext cx="3744000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72000"/>
            <a:ext cx="3744000" cy="5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YOLOv8n 目标检测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692000"/>
            <a:ext cx="3528000" cy="450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Anchor-free 单阶段检测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CSPDarknet 多尺度特征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COCO 类别 2/3/5/7 → car/moto/bus/truck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抽帧推理 + 复用上一帧检测框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IoU + 中心点距离轻量级跟踪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TTL + 最小命中次数抑制误检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2000" y="972000"/>
            <a:ext cx="3744000" cy="5400000"/>
          </a:xfrm>
          <a:prstGeom prst="rect">
            <a:avLst/>
          </a:prstGeom>
          <a:solidFill>
            <a:srgbClr val="FFFFFF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2000" y="972000"/>
            <a:ext cx="37440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2000" y="972000"/>
            <a:ext cx="3744000" cy="5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Spark Structured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6000" y="1692000"/>
            <a:ext cx="3528000" cy="450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微批模型（默认 5s 触发）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JSON File Source 替代 Kafka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30s 滑动窗口聚合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foreachBatch 自定义聚合逻辑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原子文件写入 os.replace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PySpark 不可用时自动降级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3999" y="972000"/>
            <a:ext cx="3744000" cy="5400000"/>
          </a:xfrm>
          <a:prstGeom prst="rect">
            <a:avLst/>
          </a:prstGeom>
          <a:solidFill>
            <a:srgbClr val="FFFFFF"/>
          </a:solidFill>
          <a:ln>
            <a:solidFill>
              <a:srgbClr val="67C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3999" y="972000"/>
            <a:ext cx="3744000" cy="576000"/>
          </a:xfrm>
          <a:prstGeom prst="rect">
            <a:avLst/>
          </a:prstGeom>
          <a:solidFill>
            <a:srgbClr val="67C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3999" y="972000"/>
            <a:ext cx="3744000" cy="5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RAG 检索增强生成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7999" y="1692000"/>
            <a:ext cx="3528000" cy="450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三阶段：Retrieve-Augment-Generate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MiniLM 多语言句向量（384 维）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Milvus IVF_FLAT + L2 距离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DeepSeek-V3 流式 SSE 输出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meta / message / end 三类事件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✓ rag_qa_log 全量审计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03 / 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72000"/>
            <a:ext cx="3960000" cy="540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四层结构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表现层 - 业务层 - 识别层 - 数据层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前端 Vue 统一入口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通过 Vite 代理 /api 与 /py-api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Java 业务后端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结构化 CRUD、参数校验、权限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Python AI 后端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视频识别、流式聚合、RAG 问答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数据双存储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MySQL：业务主数据
    Milvus：向量检索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668653"/>
            <a:ext cx="7200000" cy="40066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03 / 数据库设计 · 6 张核心表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72000"/>
            <a:ext cx="11448000" cy="432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324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表名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0" y="972000"/>
            <a:ext cx="180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中文名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0" y="972000"/>
            <a:ext cx="432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核心字段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0000" y="972000"/>
            <a:ext cx="2088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初始化方式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404000"/>
            <a:ext cx="11448000" cy="54000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404000"/>
            <a:ext cx="324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sys_user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1404000"/>
            <a:ext cx="180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用户表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0" y="1404000"/>
            <a:ext cx="432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登录账号、角色、状态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00" y="1404000"/>
            <a:ext cx="2088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Java 初始化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1980000"/>
            <a:ext cx="11448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1980000"/>
            <a:ext cx="324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vehicle_owner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0" y="1980000"/>
            <a:ext cx="180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车主表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1980000"/>
            <a:ext cx="432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姓名、电话、地址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1980000"/>
            <a:ext cx="2088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Java 初始化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2556000"/>
            <a:ext cx="11448000" cy="54000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000" y="2556000"/>
            <a:ext cx="324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vehicle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0" y="2556000"/>
            <a:ext cx="180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车辆表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2556000"/>
            <a:ext cx="432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车牌、品牌、车主、状态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00" y="2556000"/>
            <a:ext cx="2088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Java 初始化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3132000"/>
            <a:ext cx="11448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000" y="3132000"/>
            <a:ext cx="324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parking_record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0" y="3132000"/>
            <a:ext cx="180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停车记录表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0" y="3132000"/>
            <a:ext cx="432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进/离场时间、时长、费用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00" y="3132000"/>
            <a:ext cx="2088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Java 初始化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000" y="3708000"/>
            <a:ext cx="11448000" cy="54000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000" y="3708000"/>
            <a:ext cx="324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plate_recognition_record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0" y="3708000"/>
            <a:ext cx="180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车牌识别记录表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0" y="3708000"/>
            <a:ext cx="432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图片、识别结果、置信度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00" y="3708000"/>
            <a:ext cx="2088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Python 自动建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000" y="4284000"/>
            <a:ext cx="11448000" cy="540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000" y="4284000"/>
            <a:ext cx="324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rag_qa_log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0000" y="4284000"/>
            <a:ext cx="180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RAG 问答日志表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0000" y="4284000"/>
            <a:ext cx="4320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问题、回答、命中、状态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00" y="4284000"/>
            <a:ext cx="2088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Python 自动建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000" y="4968000"/>
            <a:ext cx="1144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约束设计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" y="5256000"/>
            <a:ext cx="11160000" cy="126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• 唯一约束：vehicle.plate_number / sys_user.username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• 外键级联：parking_record → vehicle (CASCADE)，vehicle → vehicle_owner (SET NULL)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• 时间索引：entry_time / created_at / create_time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• 监控聚合不落库：Spark 滑动窗口 + Socket.IO 推送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03 / 关键数据流：视频流 → 聚合指标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72000"/>
            <a:ext cx="4680000" cy="540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管理链路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前端表单 → Java/Python → MySQL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识别链路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VideoProcessor 逐帧 → YOLOv8 → 跟踪器 → Socket.IO 推帧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聚合链路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事件 → 内存队列 → NDJSON 文件 → Spark readStream → 滑动窗口 → Socket.IO 推送指标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双通道协同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聚合优先 + 检测流回退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生命周期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start → running → stop/eof → flush</a:t>
            </a:r>
          </a:p>
        </p:txBody>
      </p:sp>
      <p:pic>
        <p:nvPicPr>
          <p:cNvPr id="6" name="Picture 5" descr="traffic_flow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0" y="1419934"/>
            <a:ext cx="6480000" cy="45041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04 / 业务管理模块（CRUD）</a:t>
            </a:r>
          </a:p>
        </p:txBody>
      </p:sp>
      <p:pic>
        <p:nvPicPr>
          <p:cNvPr id="5" name="Picture 4" descr="vehicle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183464"/>
            <a:ext cx="3960000" cy="1953072"/>
          </a:xfrm>
          <a:prstGeom prst="rect">
            <a:avLst/>
          </a:prstGeom>
        </p:spPr>
      </p:pic>
      <p:pic>
        <p:nvPicPr>
          <p:cNvPr id="6" name="Picture 5" descr="owner-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000" y="1183464"/>
            <a:ext cx="3960000" cy="1953072"/>
          </a:xfrm>
          <a:prstGeom prst="rect">
            <a:avLst/>
          </a:prstGeom>
        </p:spPr>
      </p:pic>
      <p:pic>
        <p:nvPicPr>
          <p:cNvPr id="7" name="Picture 6" descr="parking-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000" y="1183464"/>
            <a:ext cx="3960000" cy="1953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0000" y="3456000"/>
            <a:ext cx="396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车辆管理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40000" y="3456000"/>
            <a:ext cx="396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车主管理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3456000"/>
            <a:ext cx="396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停车记录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3960000"/>
            <a:ext cx="11340000" cy="252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车辆管理 VehicleController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@Valid 校验 / 车牌唯一 / lambdaQuery / fillOwnerInfo 自动回填车主姓名电话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车主管理 VehicleOwnerController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MyBatis-Plus BaseMapper / Page&lt;T&gt; 分页 / Like 模糊匹配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停车记录 ParkingRecordController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业务约束：同车不可同时存在两条 PARKING 记录 / 离场后才能新增 / 按 entry_time 倒序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04 / 实时车辆监控（YOLOv8 + 跟踪）</a:t>
            </a:r>
          </a:p>
        </p:txBody>
      </p:sp>
      <p:pic>
        <p:nvPicPr>
          <p:cNvPr id="5" name="Picture 4" descr="vehicle-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824480"/>
            <a:ext cx="7200000" cy="3551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0" y="972000"/>
            <a:ext cx="4140000" cy="540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感知层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YOLOv8n + Conf 阈值 0.5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跟踪层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IoU + 中心点距离匹配 track_id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过滤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TTL=20 帧 + 最小命中=2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类型归一化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car / truck / bus / motorcycle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展示层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Canvas 颜色编码框 + 类别+ID+置信度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双 WS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/stream/monitor + /stream/monitor-video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04 / 车流聚合统计（Spark Structured Streaming）</a:t>
            </a:r>
          </a:p>
        </p:txBody>
      </p:sp>
      <p:pic>
        <p:nvPicPr>
          <p:cNvPr id="5" name="Picture 4" descr="traffic-stat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654852"/>
            <a:ext cx="7200000" cy="3890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0" y="972000"/>
            <a:ext cx="4140000" cy="540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4 阶段管道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阶段1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append_event → 内存 deque（10000 上限）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阶段2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flush 线程 → NDJSON 原子写盘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阶段3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readStream.format('json') 监听目录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阶段4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foreachBatch + 30s 滑动窗口聚合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聚合指标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totalCount / 唯一轨迹 / 车型分布 / 平均置信度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04 / RAG 智能问答（SSE 流式）</a:t>
            </a:r>
          </a:p>
        </p:txBody>
      </p:sp>
      <p:pic>
        <p:nvPicPr>
          <p:cNvPr id="5" name="Picture 4" descr="rag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464480"/>
            <a:ext cx="7200000" cy="3551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0" y="972000"/>
            <a:ext cx="4140000" cy="540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三接口设计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/rag/index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重建 Milvus 向量索引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/rag/search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一次性返回（POST）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/rag/stream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SSE 流式（meta/message/end）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/rag/history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问答历史分页</a:t>
            </a:r>
          </a:p>
          <a:p>
            <a:pPr>
              <a:lnSpc>
                <a:spcPct val="130000"/>
              </a:lnSpc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▸ 可追溯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    rag_qa_log 全量记录问题/回答/命中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5940000"/>
            <a:ext cx="11448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300" b="1">
                <a:solidFill>
                  <a:srgbClr val="67C23A"/>
                </a:solidFill>
                <a:latin typeface="微软雅黑"/>
                <a:ea typeface="微软雅黑"/>
              </a:rPr>
              <a:t>示例问题："赵六开什么车" → 命中本田雅阁（京 D22222），住址：3 号楼 304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04 / 车牌识别入库（OCR + 人工确认）</a:t>
            </a:r>
          </a:p>
        </p:txBody>
      </p:sp>
      <p:pic>
        <p:nvPicPr>
          <p:cNvPr id="5" name="Picture 4" descr="plate-rec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824480"/>
            <a:ext cx="7200000" cy="3551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0000" y="972000"/>
            <a:ext cx="4140000" cy="540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OCR 内核 PlateRecognizer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EasyOCR + 多变体预处理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预处理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灰度 / Otsu / 自适应阈值 / 2x 上采样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正则双模式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严格：汉字省份+5/6位
    宽松：无前缀候选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位置感知校正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第2位 0→O，尾部 O→0/Q→0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闭环流程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上传 → 识别 → 候选 → 人工修正 → 入库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状态追溯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RECOGNIZED / SAVED / DUPLICATE / FAILED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04 / 系统集成与部署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72000"/>
            <a:ext cx="5580000" cy="2520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" y="972000"/>
            <a:ext cx="5580000" cy="432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72000"/>
            <a:ext cx="55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前端统一入口 + Vite 双代理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512000"/>
            <a:ext cx="5220000" cy="198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› /api → http://localhost:8080  (Java)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› /py-api → http://localhost:5000  (Python，rewrite 为 /api)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› request.js + request_py.js 两套 Axios 实例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› 统一 {code, message, data} 响应结构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000" y="972000"/>
            <a:ext cx="5580000" cy="2520000"/>
          </a:xfrm>
          <a:prstGeom prst="rect">
            <a:avLst/>
          </a:prstGeom>
          <a:solidFill>
            <a:srgbClr val="FFFFFF"/>
          </a:solidFill>
          <a:ln>
            <a:solidFill>
              <a:srgbClr val="67C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0000" y="972000"/>
            <a:ext cx="5580000" cy="432000"/>
          </a:xfrm>
          <a:prstGeom prst="rect">
            <a:avLst/>
          </a:prstGeom>
          <a:solidFill>
            <a:srgbClr val="67C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000" y="972000"/>
            <a:ext cx="55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本地启动顺序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0" y="1512000"/>
            <a:ext cx="5220000" cy="198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› MySQL → Milvus（可选） → Java(:8080)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› → Python(:5000) → 前端 npm run dev(:3000)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› 可选模块导入失败不阻塞服务启动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› PySpark 不可用 → 自动降级非 Spark 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3744000"/>
            <a:ext cx="11520000" cy="2520000"/>
          </a:xfrm>
          <a:prstGeom prst="rect">
            <a:avLst/>
          </a:prstGeom>
          <a:solidFill>
            <a:srgbClr val="F5F7FA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3744000"/>
            <a:ext cx="1152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异常处理与降级策略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176000"/>
            <a:ext cx="10800000" cy="198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• 实时链路：单帧失败不中断，下一帧继续；视频源失败 → 状态接口反映停止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• 车牌识别：异常路径全部写回识别记录表（FAILED/DUPLICATE）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• RAG：流式失败可回退一次性接口；硬性参数错误返回字段级提示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303030"/>
                </a:solidFill>
                <a:latin typeface="微软雅黑"/>
                <a:ea typeface="微软雅黑"/>
              </a:rPr>
              <a:t>• 联调规范：参数校验前后端同步；统计字段与展示绑定同步；视频生命周期闭环验证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04 / RAG 完整处理流程图</a:t>
            </a:r>
          </a:p>
        </p:txBody>
      </p:sp>
      <p:pic>
        <p:nvPicPr>
          <p:cNvPr id="5" name="Picture 4" descr="rag_full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733" y="972000"/>
            <a:ext cx="4154534" cy="54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0000" y="972000"/>
            <a:ext cx="5760000" cy="540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① 问题输入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前端 EventSource 接入 /rag/stream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② 规范化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文本清洗、分词、字符标准化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③ 向量化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MiniLM 编码为 384 维向量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④ Milvus 召回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Top-K 候选车辆（默认 K=10）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⑤ 候选重排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语义相关度 + 业务字段匹配过滤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⑥ Prompt 构建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问题 + 上下文 + 回答约束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⑦ LLM 生成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DeepSeek-V3 流式输出 token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▸ ⑧ 日志落库</a:t>
            </a:r>
          </a:p>
          <a:p>
            <a:pPr>
              <a:lnSpc>
                <a:spcPct val="120000"/>
              </a:lnSpc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    rag_qa_log 记录问题/回答/命中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05 / 系统测试与验证</a:t>
            </a:r>
          </a:p>
        </p:txBody>
      </p:sp>
      <p:pic>
        <p:nvPicPr>
          <p:cNvPr id="5" name="Picture 4" descr="test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372685"/>
            <a:ext cx="5400000" cy="2078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0000" y="972000"/>
            <a:ext cx="5760000" cy="288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▸ 功能测试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    TC-01 ~ TC-04 端到端用例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▸ 接口测试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    Java/Python 单接口正确性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▸ 一致性测试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    同一视频回放，三处数据对账</a:t>
            </a:r>
          </a:p>
          <a:p>
            <a:pPr>
              <a:lnSpc>
                <a:spcPct val="130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▸ 稳定性测试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</a:rPr>
              <a:t>    网络抖动 + DB 短时压力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3960000"/>
            <a:ext cx="1144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核心功能测试用例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4284000"/>
            <a:ext cx="11448000" cy="360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4284000"/>
            <a:ext cx="10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编号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4284000"/>
            <a:ext cx="252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测试项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4284000"/>
            <a:ext cx="46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输入/操作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0" y="4284000"/>
            <a:ext cx="31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预期结果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4644000"/>
            <a:ext cx="11448000" cy="43200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4644000"/>
            <a:ext cx="1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TC-01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4644000"/>
            <a:ext cx="252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车辆新增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0" y="4644000"/>
            <a:ext cx="46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输入合法车辆信息并提交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0" y="4644000"/>
            <a:ext cx="3168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返回成功，列表可查询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5076000"/>
            <a:ext cx="11448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5076000"/>
            <a:ext cx="1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TC-02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5076000"/>
            <a:ext cx="252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停车新增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0" y="5076000"/>
            <a:ext cx="46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选择已有车辆，提交入场记录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0000" y="5076000"/>
            <a:ext cx="3168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提交成功，状态为 PARKING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5508000"/>
            <a:ext cx="11448000" cy="43200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5508000"/>
            <a:ext cx="1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TC-03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0000" y="5508000"/>
            <a:ext cx="252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实时监控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0000" y="5508000"/>
            <a:ext cx="46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播放含货车的测试视频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0000" y="5508000"/>
            <a:ext cx="3168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货车目标显示 truck 标签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5940000"/>
            <a:ext cx="11448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000" y="5940000"/>
            <a:ext cx="1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TC-04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0000" y="5940000"/>
            <a:ext cx="252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视频结束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0000" y="5940000"/>
            <a:ext cx="46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视频自然播放完毕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0000" y="5940000"/>
            <a:ext cx="3168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303030"/>
                </a:solidFill>
                <a:latin typeface="微软雅黑"/>
                <a:ea typeface="微软雅黑"/>
              </a:rPr>
              <a:t>识别停止，Streaming Query 收尾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05 / 改进效果与典型案例复盘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00000"/>
            <a:ext cx="1144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改造前后关键指标对比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224000"/>
            <a:ext cx="11448000" cy="360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224000"/>
            <a:ext cx="504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0" y="1224000"/>
            <a:ext cx="324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改造前表现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0" y="1224000"/>
            <a:ext cx="31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改造后表现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584000"/>
            <a:ext cx="11448000" cy="43200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584000"/>
            <a:ext cx="504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统计一致性（识别 vs 监控）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1584000"/>
            <a:ext cx="324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存在偏差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0" y="1584000"/>
            <a:ext cx="3168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67C23A"/>
                </a:solidFill>
                <a:latin typeface="微软雅黑"/>
                <a:ea typeface="微软雅黑"/>
              </a:rPr>
              <a:t>明显提升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2016000"/>
            <a:ext cx="11448000" cy="4320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2016000"/>
            <a:ext cx="504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停车新增接口错误率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2016000"/>
            <a:ext cx="324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偶发且影响流程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0" y="2016000"/>
            <a:ext cx="3168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67C23A"/>
                </a:solidFill>
                <a:latin typeface="微软雅黑"/>
                <a:ea typeface="微软雅黑"/>
              </a:rPr>
              <a:t>明显减少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2448000"/>
            <a:ext cx="11448000" cy="432000"/>
          </a:xfrm>
          <a:prstGeom prst="rect">
            <a:avLst/>
          </a:prstGeom>
          <a:solidFill>
            <a:srgbClr val="F5F7FA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2448000"/>
            <a:ext cx="504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视频结束自动收尾完整性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0" y="2448000"/>
            <a:ext cx="324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偶有缺失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0000" y="2448000"/>
            <a:ext cx="3168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67C23A"/>
                </a:solidFill>
                <a:latin typeface="微软雅黑"/>
                <a:ea typeface="微软雅黑"/>
              </a:rPr>
              <a:t>完整稳定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3060000"/>
            <a:ext cx="11448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典型案例复盘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3420000"/>
            <a:ext cx="11448000" cy="864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0000" y="3420000"/>
            <a:ext cx="1080000" cy="864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3420000"/>
            <a:ext cx="10800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案例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48000" y="3492000"/>
            <a:ext cx="1008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现象：货车显示 car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8000" y="3780000"/>
            <a:ext cx="1008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定位：前端类别映射未用 class_id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8000" y="3996000"/>
            <a:ext cx="1008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67C23A"/>
                </a:solidFill>
                <a:latin typeface="微软雅黑"/>
                <a:ea typeface="微软雅黑"/>
              </a:rPr>
              <a:t>修复：按 ID 映射 + 默认兜底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" y="4392000"/>
            <a:ext cx="11448000" cy="864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0000" y="4392000"/>
            <a:ext cx="1080000" cy="864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000" y="4392000"/>
            <a:ext cx="10800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案例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48000" y="4464000"/>
            <a:ext cx="1008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现象：统计总量偏少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48000" y="4752000"/>
            <a:ext cx="1008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定位：Spark 短时不可用无回退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8000" y="4968000"/>
            <a:ext cx="1008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67C23A"/>
                </a:solidFill>
                <a:latin typeface="微软雅黑"/>
                <a:ea typeface="微软雅黑"/>
              </a:rPr>
              <a:t>修复：聚合优先 + 检测流回退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0000" y="5364000"/>
            <a:ext cx="11448000" cy="864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0000" y="5364000"/>
            <a:ext cx="1080000" cy="864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000" y="5364000"/>
            <a:ext cx="10800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案例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48000" y="5436000"/>
            <a:ext cx="1008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现象：停车新增 400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48000" y="5724000"/>
            <a:ext cx="1008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定位：前后端校验/格式不一致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48000" y="5940000"/>
            <a:ext cx="1008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>
                <a:solidFill>
                  <a:srgbClr val="67C23A"/>
                </a:solidFill>
                <a:latin typeface="微软雅黑"/>
                <a:ea typeface="微软雅黑"/>
              </a:rPr>
              <a:t>修复：统一时间格式 + 动态选项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00"/>
            <a:ext cx="12192119" cy="28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72000"/>
            <a:ext cx="10080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06 / 总结、不足与展望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972000"/>
            <a:ext cx="3780000" cy="3960000"/>
          </a:xfrm>
          <a:prstGeom prst="rect">
            <a:avLst/>
          </a:prstGeom>
          <a:solidFill>
            <a:srgbClr val="FFFFFF"/>
          </a:solidFill>
          <a:ln>
            <a:solidFill>
              <a:srgbClr val="40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972000"/>
            <a:ext cx="3780000" cy="503999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972000"/>
            <a:ext cx="378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研究总结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584000"/>
            <a:ext cx="3528000" cy="324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前后端分离 + 双后端协同架构落地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三类核心问题针对性改进：
  类型映射 / 统计口径 / 表单校验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Spark Structured Streaming 端到端闭环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RAG 链路可解释、可追溯、可回退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4000" y="972000"/>
            <a:ext cx="3780000" cy="3960000"/>
          </a:xfrm>
          <a:prstGeom prst="rect">
            <a:avLst/>
          </a:prstGeom>
          <a:solidFill>
            <a:srgbClr val="FFFFFF"/>
          </a:solidFill>
          <a:ln>
            <a:solidFill>
              <a:srgbClr val="E6A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94000" y="972000"/>
            <a:ext cx="3780000" cy="503999"/>
          </a:xfrm>
          <a:prstGeom prst="rect">
            <a:avLst/>
          </a:prstGeom>
          <a:solidFill>
            <a:srgbClr val="E6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94000" y="972000"/>
            <a:ext cx="378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不足分析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8000" y="1584000"/>
            <a:ext cx="3528000" cy="324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极端光照/严重遮挡下识别稳定性不足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单摄像头覆盖范围有限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RAG 知识源以结构化数据为主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Spring Security 当前为开放策略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0000" y="972000"/>
            <a:ext cx="3780000" cy="3960000"/>
          </a:xfrm>
          <a:prstGeom prst="rect">
            <a:avLst/>
          </a:prstGeom>
          <a:solidFill>
            <a:srgbClr val="FFFFFF"/>
          </a:solidFill>
          <a:ln>
            <a:solidFill>
              <a:srgbClr val="67C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0000" y="972000"/>
            <a:ext cx="3780000" cy="503999"/>
          </a:xfrm>
          <a:prstGeom prst="rect">
            <a:avLst/>
          </a:prstGeom>
          <a:solidFill>
            <a:srgbClr val="67C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0000" y="972000"/>
            <a:ext cx="378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未来展望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000" y="1584000"/>
            <a:ext cx="3528000" cy="324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引入 ByteTrack/BoT-SORT 替换跟踪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跨摄像头 ReID 实现全域车流分析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扩展 RAG 知识源 + 自动归因链路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303030"/>
                </a:solidFill>
                <a:latin typeface="微软雅黑"/>
                <a:ea typeface="微软雅黑"/>
              </a:rPr>
              <a:t>› 完善 RBAC + JWT + Docker 部署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5112000"/>
            <a:ext cx="11592000" cy="1368000"/>
          </a:xfrm>
          <a:prstGeom prst="rect">
            <a:avLst/>
          </a:prstGeom>
          <a:solidFill>
            <a:srgbClr val="40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00" y="5184000"/>
            <a:ext cx="11592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Thank You 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" y="5688000"/>
            <a:ext cx="11592000" cy="54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感谢李俊老师的悉心指导，感谢各位答辩老师的批评指正！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00" y="6678000"/>
            <a:ext cx="54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基于计算机视觉与流式计算的智能小区车辆管理系统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0000" y="6678000"/>
            <a:ext cx="1800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